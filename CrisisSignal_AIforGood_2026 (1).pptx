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Risk Score</c:v>
                </c:pt>
              </c:strCache>
            </c:strRef>
          </c:tx>
          <c:spPr>
            <a:solidFill>
              <a:srgbClr val="22C55E"/>
            </a:solidFill>
            <a:ln w="31750" cap="flat">
              <a:solidFill>
                <a:srgbClr val="22C55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2C55E"/>
              </a:solidFill>
              <a:ln w="9525" cap="flat">
                <a:solidFill>
                  <a:srgbClr val="22C55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Day 1</c:v>
                  </c:pt>
                  <c:pt idx="1">
                    <c:v>Day 2</c:v>
                  </c:pt>
                  <c:pt idx="2">
                    <c:v>Day 3</c:v>
                  </c:pt>
                  <c:pt idx="3">
                    <c:v>Day 4</c:v>
                  </c:pt>
                  <c:pt idx="4">
                    <c:v>Day 5</c:v>
                  </c:pt>
                  <c:pt idx="5">
                    <c:v>Day 6</c:v>
                  </c:pt>
                  <c:pt idx="6">
                    <c:v>Day 7</c:v>
                  </c:pt>
                  <c:pt idx="7">
                    <c:v>Day 8</c:v>
                  </c:pt>
                  <c:pt idx="8">
                    <c:v>Day 9</c:v>
                  </c:pt>
                  <c:pt idx="9">
                    <c:v>Day 10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18</c:v>
                </c:pt>
                <c:pt idx="1">
                  <c:v>22</c:v>
                </c:pt>
                <c:pt idx="2">
                  <c:v>15</c:v>
                </c:pt>
                <c:pt idx="3">
                  <c:v>20</c:v>
                </c:pt>
                <c:pt idx="4">
                  <c:v>17</c:v>
                </c:pt>
                <c:pt idx="5">
                  <c:v>24</c:v>
                </c:pt>
                <c:pt idx="6">
                  <c:v>19</c:v>
                </c:pt>
                <c:pt idx="7">
                  <c:v>16</c:v>
                </c:pt>
                <c:pt idx="8">
                  <c:v>21</c:v>
                </c:pt>
                <c:pt idx="9">
                  <c:v>18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8F7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1A3A2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8F7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D2B1A"/>
        </a:solidFill>
        <a:ln>
          <a:noFill/>
        </a:ln>
        <a:effectLst/>
      </c:spPr>
    </c:plotArea>
    <c:plotVisOnly val="1"/>
    <c:dispBlanksAs val="span"/>
  </c:chart>
  <c:spPr>
    <a:solidFill>
      <a:srgbClr val="0D2B1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Risk Score</c:v>
                </c:pt>
              </c:strCache>
            </c:strRef>
          </c:tx>
          <c:spPr>
            <a:solidFill>
              <a:srgbClr val="EF4444"/>
            </a:solidFill>
            <a:ln w="31750" cap="flat">
              <a:solidFill>
                <a:srgbClr val="EF444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F4444"/>
              </a:solidFill>
              <a:ln w="9525" cap="flat">
                <a:solidFill>
                  <a:srgbClr val="EF444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Day 1</c:v>
                  </c:pt>
                  <c:pt idx="1">
                    <c:v>Day 2</c:v>
                  </c:pt>
                  <c:pt idx="2">
                    <c:v>Day 3</c:v>
                  </c:pt>
                  <c:pt idx="3">
                    <c:v>Day 4</c:v>
                  </c:pt>
                  <c:pt idx="4">
                    <c:v>Day 5</c:v>
                  </c:pt>
                  <c:pt idx="5">
                    <c:v>Day 6</c:v>
                  </c:pt>
                  <c:pt idx="6">
                    <c:v>Day 7</c:v>
                  </c:pt>
                  <c:pt idx="7">
                    <c:v>Day 8</c:v>
                  </c:pt>
                  <c:pt idx="8">
                    <c:v>Day 9</c:v>
                  </c:pt>
                  <c:pt idx="9">
                    <c:v>Day 10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20</c:v>
                </c:pt>
                <c:pt idx="1">
                  <c:v>24</c:v>
                </c:pt>
                <c:pt idx="2">
                  <c:v>30</c:v>
                </c:pt>
                <c:pt idx="3">
                  <c:v>38</c:v>
                </c:pt>
                <c:pt idx="4">
                  <c:v>48</c:v>
                </c:pt>
                <c:pt idx="5">
                  <c:v>62</c:v>
                </c:pt>
                <c:pt idx="6">
                  <c:v>75</c:v>
                </c:pt>
                <c:pt idx="7">
                  <c:v>85</c:v>
                </c:pt>
                <c:pt idx="8">
                  <c:v>92</c:v>
                </c:pt>
                <c:pt idx="9">
                  <c:v>96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Alert Threshold</c:v>
                </c:pt>
              </c:strCache>
            </c:strRef>
          </c:tx>
          <c:spPr>
            <a:solidFill>
              <a:srgbClr val="F59E0B"/>
            </a:solidFill>
            <a:ln w="31750" cap="flat">
              <a:solidFill>
                <a:srgbClr val="F59E0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Day 1</c:v>
                  </c:pt>
                  <c:pt idx="1">
                    <c:v>Day 2</c:v>
                  </c:pt>
                  <c:pt idx="2">
                    <c:v>Day 3</c:v>
                  </c:pt>
                  <c:pt idx="3">
                    <c:v>Day 4</c:v>
                  </c:pt>
                  <c:pt idx="4">
                    <c:v>Day 5</c:v>
                  </c:pt>
                  <c:pt idx="5">
                    <c:v>Day 6</c:v>
                  </c:pt>
                  <c:pt idx="6">
                    <c:v>Day 7</c:v>
                  </c:pt>
                  <c:pt idx="7">
                    <c:v>Day 8</c:v>
                  </c:pt>
                  <c:pt idx="8">
                    <c:v>Day 9</c:v>
                  </c:pt>
                  <c:pt idx="9">
                    <c:v>Day 10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65</c:v>
                </c:pt>
                <c:pt idx="1">
                  <c:v>65</c:v>
                </c:pt>
                <c:pt idx="2">
                  <c:v>65</c:v>
                </c:pt>
                <c:pt idx="3">
                  <c:v>65</c:v>
                </c:pt>
                <c:pt idx="4">
                  <c:v>65</c:v>
                </c:pt>
                <c:pt idx="5">
                  <c:v>65</c:v>
                </c:pt>
                <c:pt idx="6">
                  <c:v>65</c:v>
                </c:pt>
                <c:pt idx="7">
                  <c:v>65</c:v>
                </c:pt>
                <c:pt idx="8">
                  <c:v>65</c:v>
                </c:pt>
                <c:pt idx="9">
                  <c:v>65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8F7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1A3A2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8F7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D2B1A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0D2B1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A2E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28854"/>
            <a:ext cx="9144000" cy="0"/>
          </a:xfrm>
          <a:prstGeom prst="line">
            <a:avLst/>
          </a:prstGeom>
          <a:noFill/>
          <a:ln w="6350">
            <a:solidFill>
              <a:srgbClr val="1A2E2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57707"/>
            <a:ext cx="9144000" cy="0"/>
          </a:xfrm>
          <a:prstGeom prst="line">
            <a:avLst/>
          </a:prstGeom>
          <a:noFill/>
          <a:ln w="6350">
            <a:solidFill>
              <a:srgbClr val="1A2E2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286561"/>
            <a:ext cx="9144000" cy="0"/>
          </a:xfrm>
          <a:prstGeom prst="line">
            <a:avLst/>
          </a:prstGeom>
          <a:noFill/>
          <a:ln w="6350">
            <a:solidFill>
              <a:srgbClr val="1A2E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715414"/>
            <a:ext cx="9144000" cy="0"/>
          </a:xfrm>
          <a:prstGeom prst="line">
            <a:avLst/>
          </a:prstGeom>
          <a:noFill/>
          <a:ln w="6350">
            <a:solidFill>
              <a:srgbClr val="1A2E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144268"/>
            <a:ext cx="9144000" cy="0"/>
          </a:xfrm>
          <a:prstGeom prst="line">
            <a:avLst/>
          </a:prstGeom>
          <a:noFill/>
          <a:ln w="6350">
            <a:solidFill>
              <a:srgbClr val="1A2E2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2573122"/>
            <a:ext cx="9144000" cy="0"/>
          </a:xfrm>
          <a:prstGeom prst="line">
            <a:avLst/>
          </a:prstGeom>
          <a:noFill/>
          <a:ln w="6350">
            <a:solidFill>
              <a:srgbClr val="1A2E2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001975"/>
            <a:ext cx="9144000" cy="0"/>
          </a:xfrm>
          <a:prstGeom prst="line">
            <a:avLst/>
          </a:prstGeom>
          <a:noFill/>
          <a:ln w="6350">
            <a:solidFill>
              <a:srgbClr val="1A2E2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3430829"/>
            <a:ext cx="9144000" cy="0"/>
          </a:xfrm>
          <a:prstGeom prst="line">
            <a:avLst/>
          </a:prstGeom>
          <a:noFill/>
          <a:ln w="6350">
            <a:solidFill>
              <a:srgbClr val="1A2E2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3859682"/>
            <a:ext cx="9144000" cy="0"/>
          </a:xfrm>
          <a:prstGeom prst="line">
            <a:avLst/>
          </a:prstGeom>
          <a:noFill/>
          <a:ln w="6350">
            <a:solidFill>
              <a:srgbClr val="1A2E2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288536"/>
            <a:ext cx="9144000" cy="0"/>
          </a:xfrm>
          <a:prstGeom prst="line">
            <a:avLst/>
          </a:prstGeom>
          <a:noFill/>
          <a:ln w="6350">
            <a:solidFill>
              <a:srgbClr val="1A2E2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4717390"/>
            <a:ext cx="9144000" cy="0"/>
          </a:xfrm>
          <a:prstGeom prst="line">
            <a:avLst/>
          </a:prstGeom>
          <a:noFill/>
          <a:ln w="6350">
            <a:solidFill>
              <a:srgbClr val="1A2E2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GOOD HACKATHON 2026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0040" y="50292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0" dirty="0"/>
          </a:p>
        </p:txBody>
      </p:sp>
      <p:sp>
        <p:nvSpPr>
          <p:cNvPr id="17" name="Text 15"/>
          <p:cNvSpPr/>
          <p:nvPr/>
        </p:nvSpPr>
        <p:spPr>
          <a:xfrm>
            <a:off x="320040" y="292608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spc="8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</a:t>
            </a:r>
            <a:endParaRPr lang="en-US" sz="5200" dirty="0"/>
          </a:p>
        </p:txBody>
      </p:sp>
      <p:sp>
        <p:nvSpPr>
          <p:cNvPr id="18" name="Text 16"/>
          <p:cNvSpPr/>
          <p:nvPr/>
        </p:nvSpPr>
        <p:spPr>
          <a:xfrm>
            <a:off x="320040" y="349300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6B8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 by suicide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20040" y="385876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2 hours in India.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5577840" y="1097280"/>
            <a:ext cx="3200400" cy="2743200"/>
          </a:xfrm>
          <a:prstGeom prst="rect">
            <a:avLst/>
          </a:prstGeom>
          <a:solidFill>
            <a:srgbClr val="0D2B1A"/>
          </a:solidFill>
          <a:ln w="12700">
            <a:solidFill>
              <a:srgbClr val="1A4D2E"/>
            </a:solidFill>
            <a:prstDash val="solid"/>
          </a:ln>
          <a:effectLst>
            <a:outerShdw sx="100000" sy="100000" kx="0" ky="0" algn="bl" rotWithShape="0" blurRad="203200" dist="50800" dir="8100000">
              <a:srgbClr val="22C55E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577840" y="1097280"/>
            <a:ext cx="54864" cy="27432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60720" y="123444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80%</a:t>
            </a:r>
            <a:endParaRPr lang="en-US" sz="7200" dirty="0"/>
          </a:p>
        </p:txBody>
      </p:sp>
      <p:sp>
        <p:nvSpPr>
          <p:cNvPr id="23" name="Text 21"/>
          <p:cNvSpPr/>
          <p:nvPr/>
        </p:nvSpPr>
        <p:spPr>
          <a:xfrm>
            <a:off x="5760720" y="214884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showed warning signs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7–10 days before.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760720" y="2971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was watching.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4617720"/>
            <a:ext cx="850392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F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built the AI that does.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6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2B1A"/>
          </a:solidFill>
          <a:ln w="12700">
            <a:solidFill>
              <a:srgbClr val="1A4D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0" y="1645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8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02 / 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749808"/>
            <a:ext cx="2011680" cy="1828800"/>
          </a:xfrm>
          <a:prstGeom prst="rect">
            <a:avLst/>
          </a:prstGeom>
          <a:solidFill>
            <a:srgbClr val="0D2B1A"/>
          </a:solidFill>
          <a:ln w="12700">
            <a:solidFill>
              <a:srgbClr val="1A4D2E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749808"/>
            <a:ext cx="2011680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868680"/>
            <a:ext cx="1792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LAKH+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38328" y="1664208"/>
            <a:ext cx="1792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suicides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year in India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423160" y="749808"/>
            <a:ext cx="2011680" cy="1828800"/>
          </a:xfrm>
          <a:prstGeom prst="rect">
            <a:avLst/>
          </a:prstGeom>
          <a:solidFill>
            <a:srgbClr val="0D2B1A"/>
          </a:solidFill>
          <a:ln w="12700">
            <a:solidFill>
              <a:srgbClr val="1A4D2E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23160" y="749808"/>
            <a:ext cx="2011680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32888" y="868680"/>
            <a:ext cx="1792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2532888" y="1664208"/>
            <a:ext cx="1792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suicides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single day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17720" y="749808"/>
            <a:ext cx="2011680" cy="1828800"/>
          </a:xfrm>
          <a:prstGeom prst="rect">
            <a:avLst/>
          </a:prstGeom>
          <a:solidFill>
            <a:srgbClr val="0D2B1A"/>
          </a:solidFill>
          <a:ln w="12700">
            <a:solidFill>
              <a:srgbClr val="1A4D2E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17720" y="749808"/>
            <a:ext cx="20116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27448" y="868680"/>
            <a:ext cx="1792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3–6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727448" y="1664208"/>
            <a:ext cx="1792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wait for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counselor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12280" y="749808"/>
            <a:ext cx="2011680" cy="1828800"/>
          </a:xfrm>
          <a:prstGeom prst="rect">
            <a:avLst/>
          </a:prstGeom>
          <a:solidFill>
            <a:srgbClr val="0D2B1A"/>
          </a:solidFill>
          <a:ln w="12700">
            <a:solidFill>
              <a:srgbClr val="1A4D2E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812280" y="749808"/>
            <a:ext cx="20116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22008" y="868680"/>
            <a:ext cx="1792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₹2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6922008" y="1664208"/>
            <a:ext cx="1792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capita budget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mental health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28600" y="2788920"/>
            <a:ext cx="4206240" cy="2011680"/>
          </a:xfrm>
          <a:prstGeom prst="rect">
            <a:avLst/>
          </a:prstGeom>
          <a:solidFill>
            <a:srgbClr val="0D2B1A"/>
          </a:solidFill>
          <a:ln w="12700">
            <a:solidFill>
              <a:srgbClr val="1A4D2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8600" y="2788920"/>
            <a:ext cx="64008" cy="20116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287121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CURRENT SOLUTIONS FAIL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84048" y="3200400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316382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Therapy apps require daily journaling — 90% abandon within 30 days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84048" y="3584448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354787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Crisis hotlines only help AFTER the crisis, not before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84048" y="3968496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39319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counselors have 1:1000 student-to-counselor ratios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84048" y="4352544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431596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passive, always-on, zero-cost monitoring tool exists anywhere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09160" y="2788920"/>
            <a:ext cx="4206240" cy="2011680"/>
          </a:xfrm>
          <a:prstGeom prst="rect">
            <a:avLst/>
          </a:prstGeom>
          <a:solidFill>
            <a:srgbClr val="0F3D22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203200" dist="50800" dir="8100000">
              <a:srgbClr val="22C55E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09160" y="2788920"/>
            <a:ext cx="64008" cy="20116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287121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HIDDEN OPPORTUNITY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92040" y="3200400"/>
            <a:ext cx="3886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shows mental health crises follow predictable behavioral patterns in the 7–10 days before they peak. Sleep changes. Social withdrawal. Reduced mobility. Typing errors.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signals are already being generated — silently — on every student's smartphone.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just aren't being listened to.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0" b="1" dirty="0">
                <a:solidFill>
                  <a:srgbClr val="0F20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</a:t>
            </a:r>
            <a:endParaRPr lang="en-US" sz="16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2B1A"/>
          </a:solidFill>
          <a:ln w="12700">
            <a:solidFill>
              <a:srgbClr val="1A4D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972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SOLUTION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0" y="1645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8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03 / 10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68580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CrisisSignal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365760" y="157276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B8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phone. Always listening for the signs you can't see.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20040" y="2240280"/>
            <a:ext cx="2651760" cy="2606040"/>
          </a:xfrm>
          <a:prstGeom prst="rect">
            <a:avLst/>
          </a:prstGeom>
          <a:solidFill>
            <a:srgbClr val="0D2B1A"/>
          </a:solidFill>
          <a:ln w="12700">
            <a:solidFill>
              <a:srgbClr val="1A4D2E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240280"/>
            <a:ext cx="2651760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3591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📱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57200" y="290779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 Hardware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7200" y="3310128"/>
            <a:ext cx="2377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any Android phone the student already owns. No wearable, no sensor, no purchase.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00400" y="2240280"/>
            <a:ext cx="2651760" cy="2606040"/>
          </a:xfrm>
          <a:prstGeom prst="rect">
            <a:avLst/>
          </a:prstGeom>
          <a:solidFill>
            <a:srgbClr val="0D2B1A"/>
          </a:solidFill>
          <a:ln w="12700">
            <a:solidFill>
              <a:srgbClr val="1A4D2E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2240280"/>
            <a:ext cx="265176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23591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🔒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337560" y="290779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 Privacy Risk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337560" y="3310128"/>
            <a:ext cx="2377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AI runs 100% on-device. No data ever leaves the phone. Fully GDPR + consent-first.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080760" y="2240280"/>
            <a:ext cx="2651760" cy="2606040"/>
          </a:xfrm>
          <a:prstGeom prst="rect">
            <a:avLst/>
          </a:prstGeom>
          <a:solidFill>
            <a:srgbClr val="0D2B1A"/>
          </a:solidFill>
          <a:ln w="12700">
            <a:solidFill>
              <a:srgbClr val="1A4D2E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80760" y="2240280"/>
            <a:ext cx="2651760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23591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⏰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217920" y="290779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7-Day Warning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217920" y="3310128"/>
            <a:ext cx="2377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the behavioral drift toward crisis 5–7 days before it peaks — enough time to intervene.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4D2E"/>
          </a:solidFill>
          <a:ln w="12700">
            <a:solidFill>
              <a:srgbClr val="1A4D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754880"/>
            <a:ext cx="84124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the device in every student's pocket into a silent guardian.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2B1A"/>
          </a:solidFill>
          <a:ln w="12700">
            <a:solidFill>
              <a:srgbClr val="1A4D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AI WORKS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0" y="1645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8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04 / 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1920240" cy="3566160"/>
          </a:xfrm>
          <a:prstGeom prst="rect">
            <a:avLst/>
          </a:prstGeom>
          <a:solidFill>
            <a:srgbClr val="0D2B1A"/>
          </a:solidFill>
          <a:ln w="12700">
            <a:solidFill>
              <a:srgbClr val="1A4D2E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77240"/>
            <a:ext cx="192024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896112"/>
            <a:ext cx="731520" cy="73152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8961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F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11480" y="1719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📡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84048" y="2212848"/>
            <a:ext cx="17007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PASSIVE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SENSOR LAYER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84048" y="2871216"/>
            <a:ext cx="17007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behavioral signals logged hourly with consent. Screen time, typing speed, GPS range, app usage, call frequency.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83464" y="3977640"/>
            <a:ext cx="1901952" cy="320040"/>
          </a:xfrm>
          <a:prstGeom prst="rect">
            <a:avLst/>
          </a:prstGeom>
          <a:solidFill>
            <a:srgbClr val="0F3D22"/>
          </a:solidFill>
          <a:ln w="12700">
            <a:solidFill>
              <a:srgbClr val="1A4D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986784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API · Kotlin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194560" y="2560320"/>
            <a:ext cx="256032" cy="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0" y="2459736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C55E"/>
                </a:solidFill>
              </a:rPr>
              <a:t>▶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450592" y="777240"/>
            <a:ext cx="1920240" cy="3566160"/>
          </a:xfrm>
          <a:prstGeom prst="rect">
            <a:avLst/>
          </a:prstGeom>
          <a:solidFill>
            <a:srgbClr val="0D2B1A"/>
          </a:solidFill>
          <a:ln w="12700">
            <a:solidFill>
              <a:srgbClr val="1A4D2E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450592" y="777240"/>
            <a:ext cx="192024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044952" y="896112"/>
            <a:ext cx="731520" cy="73152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44952" y="8961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F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2587752" y="1719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🧠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2560320" y="2212848"/>
            <a:ext cx="17007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PERSONAL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 LSTM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560320" y="2871216"/>
            <a:ext cx="17007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on 30 days of YOUR behavior. Anomaly = deviation from YOUR norm. Not a population average.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459736" y="3977640"/>
            <a:ext cx="1901952" cy="320040"/>
          </a:xfrm>
          <a:prstGeom prst="rect">
            <a:avLst/>
          </a:prstGeom>
          <a:solidFill>
            <a:srgbClr val="0F3D22"/>
          </a:solidFill>
          <a:ln w="12700">
            <a:solidFill>
              <a:srgbClr val="1A4D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42032" y="3986784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Lite · LSTM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370832" y="2560320"/>
            <a:ext cx="256032" cy="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62272" y="2459736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C55E"/>
                </a:solidFill>
              </a:rPr>
              <a:t>▶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626864" y="777240"/>
            <a:ext cx="1920240" cy="3566160"/>
          </a:xfrm>
          <a:prstGeom prst="rect">
            <a:avLst/>
          </a:prstGeom>
          <a:solidFill>
            <a:srgbClr val="0D2B1A"/>
          </a:solidFill>
          <a:ln w="12700">
            <a:solidFill>
              <a:srgbClr val="1A4D2E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26864" y="777240"/>
            <a:ext cx="192024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221224" y="896112"/>
            <a:ext cx="731520" cy="73152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21224" y="8961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F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4764024" y="1719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4736592" y="2212848"/>
            <a:ext cx="17007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CRISIS RISK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SCORER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736592" y="2871216"/>
            <a:ext cx="17007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 47 anomaly scores into a daily risk score 0–100. Calibrated against StudentLife + PHQ-9 labels.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36008" y="3977640"/>
            <a:ext cx="1901952" cy="320040"/>
          </a:xfrm>
          <a:prstGeom prst="rect">
            <a:avLst/>
          </a:prstGeom>
          <a:solidFill>
            <a:srgbClr val="0F3D22"/>
          </a:solidFill>
          <a:ln w="12700">
            <a:solidFill>
              <a:srgbClr val="1A4D2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18304" y="3986784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· Python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547104" y="2560320"/>
            <a:ext cx="256032" cy="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38544" y="2459736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C55E"/>
                </a:solidFill>
              </a:rPr>
              <a:t>▶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803136" y="777240"/>
            <a:ext cx="1920240" cy="3566160"/>
          </a:xfrm>
          <a:prstGeom prst="rect">
            <a:avLst/>
          </a:prstGeom>
          <a:solidFill>
            <a:srgbClr val="0D2B1A"/>
          </a:solidFill>
          <a:ln w="12700">
            <a:solidFill>
              <a:srgbClr val="1A4D2E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803136" y="777240"/>
            <a:ext cx="192024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397496" y="896112"/>
            <a:ext cx="731520" cy="73152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97496" y="8961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F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6940296" y="1719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🆘</a:t>
            </a:r>
            <a:endParaRPr lang="en-US" sz="2400" dirty="0"/>
          </a:p>
        </p:txBody>
      </p:sp>
      <p:sp>
        <p:nvSpPr>
          <p:cNvPr id="44" name="Text 42"/>
          <p:cNvSpPr/>
          <p:nvPr/>
        </p:nvSpPr>
        <p:spPr>
          <a:xfrm>
            <a:off x="6912864" y="2212848"/>
            <a:ext cx="17007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INTERVENTION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912864" y="2871216"/>
            <a:ext cx="17007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Risk&gt;40: Mood check-in. Risk&gt;65: Counselor alert. Risk&gt;80: iCall / Vandrevala helpline connection.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812280" y="3977640"/>
            <a:ext cx="1901952" cy="320040"/>
          </a:xfrm>
          <a:prstGeom prst="rect">
            <a:avLst/>
          </a:prstGeom>
          <a:solidFill>
            <a:srgbClr val="0F3D22"/>
          </a:solidFill>
          <a:ln w="12700">
            <a:solidFill>
              <a:srgbClr val="1A4D2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894576" y="3986784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iCall API · Federated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274320" y="446227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8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on-device  ·  No cloud  ·  No data leaves the phone  ·  Federated learning improves global model anonymously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274320" y="480060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on: StudentLife Dataset (Dartmouth) + PHQ-9 Depression Labels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2B1A"/>
          </a:solidFill>
          <a:ln w="12700">
            <a:solidFill>
              <a:srgbClr val="1A4D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WORKING PROTOTYPE — RISK VISUALIZATION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0" y="1645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8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05 / 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685800"/>
            <a:ext cx="4069080" cy="3200400"/>
          </a:xfrm>
          <a:prstGeom prst="rect">
            <a:avLst/>
          </a:prstGeom>
          <a:solidFill>
            <a:srgbClr val="0D2B1A"/>
          </a:solidFill>
          <a:ln w="12700">
            <a:solidFill>
              <a:srgbClr val="1A4D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685800"/>
            <a:ext cx="54864" cy="32004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74980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A — HEALTHY STUDENT</a:t>
            </a:r>
            <a:endParaRPr lang="en-US" sz="10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347472" y="1024128"/>
          <a:ext cx="388620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3657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stays low (15–25). System: Normal.</a:t>
            </a:r>
            <a:endParaRPr lang="en-US" sz="1050" dirty="0"/>
          </a:p>
          <a:p>
            <a:pPr indent="0" marL="0">
              <a:buNone/>
            </a:pPr>
            <a:r>
              <a:rPr lang="en-US" sz="1050" i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alert triggered. ✓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754880" y="685800"/>
            <a:ext cx="4069080" cy="3200400"/>
          </a:xfrm>
          <a:prstGeom prst="rect">
            <a:avLst/>
          </a:prstGeom>
          <a:solidFill>
            <a:srgbClr val="0D2B1A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54880" y="685800"/>
            <a:ext cx="54864" cy="32004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37760" y="74980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B — AT-RISK STUDENT</a:t>
            </a:r>
            <a:endParaRPr lang="en-US" sz="1000" dirty="0"/>
          </a:p>
        </p:txBody>
      </p:sp>
      <p:graphicFrame>
        <p:nvGraphicFramePr>
          <p:cNvPr id="14" name="Chart 1" descr=""/>
          <p:cNvGraphicFramePr/>
          <p:nvPr/>
        </p:nvGraphicFramePr>
        <p:xfrm>
          <a:off x="4828032" y="1024128"/>
          <a:ext cx="388620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5" name="Text 11"/>
          <p:cNvSpPr/>
          <p:nvPr/>
        </p:nvSpPr>
        <p:spPr>
          <a:xfrm>
            <a:off x="4937760" y="3657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crosses 65 on Day 6 → Counselor Alert sent automatically. ⚠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 rot="16200000">
            <a:off x="0" y="2286000"/>
            <a:ext cx="320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00" kern="0" dirty="0">
                <a:solidFill>
                  <a:srgbClr val="6B8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 (0–100)</a:t>
            </a:r>
            <a:endParaRPr lang="en-US" sz="700" dirty="0"/>
          </a:p>
        </p:txBody>
      </p:sp>
      <p:sp>
        <p:nvSpPr>
          <p:cNvPr id="17" name="Text 13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8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Python · Keras LSTM · Streamlit · Validated on StudentLife Dataset (Dartmouth University)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2B1A"/>
          </a:solidFill>
          <a:ln w="12700">
            <a:solidFill>
              <a:srgbClr val="1A4D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&amp; METRICS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0" y="1645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8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06 / 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749808"/>
            <a:ext cx="1993392" cy="1737360"/>
          </a:xfrm>
          <a:prstGeom prst="rect">
            <a:avLst/>
          </a:prstGeom>
          <a:solidFill>
            <a:srgbClr val="0D2B1A"/>
          </a:solidFill>
          <a:ln w="12700">
            <a:solidFill>
              <a:srgbClr val="1A4D2E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749808"/>
            <a:ext cx="1993392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859536"/>
            <a:ext cx="18105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79.2%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20040" y="1581912"/>
            <a:ext cx="18105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 7 Days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423160" y="749808"/>
            <a:ext cx="1993392" cy="1737360"/>
          </a:xfrm>
          <a:prstGeom prst="rect">
            <a:avLst/>
          </a:prstGeom>
          <a:solidFill>
            <a:srgbClr val="0D2B1A"/>
          </a:solidFill>
          <a:ln w="12700">
            <a:solidFill>
              <a:srgbClr val="1A4D2E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23160" y="749808"/>
            <a:ext cx="1993392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14600" y="859536"/>
            <a:ext cx="18105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74.6%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2514600" y="1581912"/>
            <a:ext cx="18105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 7 Days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17720" y="749808"/>
            <a:ext cx="1993392" cy="1737360"/>
          </a:xfrm>
          <a:prstGeom prst="rect">
            <a:avLst/>
          </a:prstGeom>
          <a:solidFill>
            <a:srgbClr val="0D2B1A"/>
          </a:solidFill>
          <a:ln w="12700">
            <a:solidFill>
              <a:srgbClr val="4D3D0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17720" y="749808"/>
            <a:ext cx="1993392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859536"/>
            <a:ext cx="18105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Days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4709160" y="1581912"/>
            <a:ext cx="18105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12280" y="749808"/>
            <a:ext cx="1993392" cy="1737360"/>
          </a:xfrm>
          <a:prstGeom prst="rect">
            <a:avLst/>
          </a:prstGeom>
          <a:solidFill>
            <a:srgbClr val="0D2B1A"/>
          </a:solidFill>
          <a:ln w="12700">
            <a:solidFill>
              <a:srgbClr val="4D3D0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812280" y="749808"/>
            <a:ext cx="1993392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03720" y="859536"/>
            <a:ext cx="18105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₹0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6903720" y="1581912"/>
            <a:ext cx="18105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Cost/User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74320" y="257860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PREDICTIVE FEATURES (from StudentLife Analysis)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74320" y="2944368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8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13232" y="294436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Pattern Disruption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364992" y="3008376"/>
            <a:ext cx="5029200" cy="182880"/>
          </a:xfrm>
          <a:prstGeom prst="rect">
            <a:avLst/>
          </a:prstGeom>
          <a:solidFill>
            <a:srgbClr val="1A3020"/>
          </a:solidFill>
          <a:ln w="12700">
            <a:solidFill>
              <a:srgbClr val="1A302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64992" y="3008376"/>
            <a:ext cx="4576572" cy="182880"/>
          </a:xfrm>
          <a:prstGeom prst="rect">
            <a:avLst/>
          </a:prstGeom>
          <a:solidFill>
            <a:srgbClr val="22C55E"/>
          </a:solidFill>
          <a:ln w="12700">
            <a:solidFill>
              <a:srgbClr val="0A0F0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67344" y="294436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91%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74320" y="3346704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8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13232" y="334670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Withdrawal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364992" y="3410712"/>
            <a:ext cx="5029200" cy="182880"/>
          </a:xfrm>
          <a:prstGeom prst="rect">
            <a:avLst/>
          </a:prstGeom>
          <a:solidFill>
            <a:srgbClr val="1A3020"/>
          </a:solidFill>
          <a:ln w="12700">
            <a:solidFill>
              <a:srgbClr val="1A302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64992" y="3410712"/>
            <a:ext cx="3922776" cy="182880"/>
          </a:xfrm>
          <a:prstGeom prst="rect">
            <a:avLst/>
          </a:prstGeom>
          <a:solidFill>
            <a:srgbClr val="22C55E"/>
          </a:solidFill>
          <a:ln w="12700">
            <a:solidFill>
              <a:srgbClr val="0A0F0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67344" y="334670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74320" y="3749040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8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13232" y="3749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Typing Error Rate Spike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364992" y="3813048"/>
            <a:ext cx="5029200" cy="182880"/>
          </a:xfrm>
          <a:prstGeom prst="rect">
            <a:avLst/>
          </a:prstGeom>
          <a:solidFill>
            <a:srgbClr val="1A3020"/>
          </a:solidFill>
          <a:ln w="12700">
            <a:solidFill>
              <a:srgbClr val="1A302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364992" y="3813048"/>
            <a:ext cx="3570732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0A0F0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67344" y="374904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71%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274320" y="4151376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8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13232" y="415137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Mobility Reduction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364992" y="4215384"/>
            <a:ext cx="5029200" cy="182880"/>
          </a:xfrm>
          <a:prstGeom prst="rect">
            <a:avLst/>
          </a:prstGeom>
          <a:solidFill>
            <a:srgbClr val="1A3020"/>
          </a:solidFill>
          <a:ln w="12700">
            <a:solidFill>
              <a:srgbClr val="1A302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364992" y="4215384"/>
            <a:ext cx="3268980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0A0F0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467344" y="415137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274320" y="4553712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8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13232" y="455371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Call/SMS Frequency Drop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3364992" y="4617720"/>
            <a:ext cx="5029200" cy="182880"/>
          </a:xfrm>
          <a:prstGeom prst="rect">
            <a:avLst/>
          </a:prstGeom>
          <a:solidFill>
            <a:srgbClr val="1A3020"/>
          </a:solidFill>
          <a:ln w="12700">
            <a:solidFill>
              <a:srgbClr val="1A302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364992" y="4617720"/>
            <a:ext cx="2916936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0A0F0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467344" y="45537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58%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274320" y="4809744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8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StudentLife (Dartmouth)  ·  Labels: PHQ-9 Depression Scale  ·  Model: LSTM (TensorFlow Lite)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2B1A"/>
          </a:solidFill>
          <a:ln w="12700">
            <a:solidFill>
              <a:srgbClr val="1A4D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&amp; SCALE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0" y="1645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8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07 / 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749808"/>
            <a:ext cx="2606040" cy="1645920"/>
          </a:xfrm>
          <a:prstGeom prst="rect">
            <a:avLst/>
          </a:prstGeom>
          <a:solidFill>
            <a:srgbClr val="0D2B1A"/>
          </a:solidFill>
          <a:ln w="12700">
            <a:solidFill>
              <a:srgbClr val="1A4D2E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82296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C55E"/>
                </a:solidFill>
              </a:rPr>
              <a:t>★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29768" y="1170432"/>
            <a:ext cx="2377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750M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29768" y="182880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smartphones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deploy 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749808"/>
            <a:ext cx="2606040" cy="1645920"/>
          </a:xfrm>
          <a:prstGeom prst="rect">
            <a:avLst/>
          </a:prstGeom>
          <a:solidFill>
            <a:srgbClr val="0D2B1A"/>
          </a:solidFill>
          <a:ln w="12700">
            <a:solidFill>
              <a:srgbClr val="1A4D2E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83280" y="82296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C55E"/>
                </a:solidFill>
              </a:rPr>
              <a:t>★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355848" y="1170432"/>
            <a:ext cx="2377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3355848" y="182880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Rupees cost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user per year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72200" y="749808"/>
            <a:ext cx="2606040" cy="1645920"/>
          </a:xfrm>
          <a:prstGeom prst="rect">
            <a:avLst/>
          </a:prstGeom>
          <a:solidFill>
            <a:srgbClr val="0D2B1A"/>
          </a:solidFill>
          <a:ln w="12700">
            <a:solidFill>
              <a:srgbClr val="7F1D1D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09360" y="82296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F4444"/>
                </a:solidFill>
              </a:rPr>
              <a:t>⚠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281928" y="1170432"/>
            <a:ext cx="2377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5200" dirty="0"/>
          </a:p>
        </p:txBody>
      </p:sp>
      <p:sp>
        <p:nvSpPr>
          <p:cNvPr id="17" name="Text 15"/>
          <p:cNvSpPr/>
          <p:nvPr/>
        </p:nvSpPr>
        <p:spPr>
          <a:xfrm>
            <a:off x="6281928" y="182880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deaths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could help prevent daily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0040" y="260604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ROADMAP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2926080"/>
            <a:ext cx="2606040" cy="2029968"/>
          </a:xfrm>
          <a:prstGeom prst="rect">
            <a:avLst/>
          </a:prstGeom>
          <a:solidFill>
            <a:srgbClr val="0D2B1A"/>
          </a:solidFill>
          <a:ln w="12700">
            <a:solidFill>
              <a:srgbClr val="1A4D2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2926080"/>
            <a:ext cx="2606040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9768" y="299008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(Now)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29768" y="3520440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" y="348386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on StudentLife dataset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29768" y="3867912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6072" y="383133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demo validated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29768" y="4215384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6072" y="417880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model trained &amp; exported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46120" y="2926080"/>
            <a:ext cx="2606040" cy="2029968"/>
          </a:xfrm>
          <a:prstGeom prst="rect">
            <a:avLst/>
          </a:prstGeom>
          <a:solidFill>
            <a:srgbClr val="0D2B1A"/>
          </a:solidFill>
          <a:ln w="12700">
            <a:solidFill>
              <a:srgbClr val="4D3D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46120" y="2926080"/>
            <a:ext cx="260604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55848" y="299008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(3 Months)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355848" y="352044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02152" y="348386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app pilot — 500 college students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355848" y="3867912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02152" y="383133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IRB ethics approval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355848" y="4215384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502152" y="417880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Counselor dashboard built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355848" y="4562856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02152" y="45262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iCall API integrated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172200" y="2926080"/>
            <a:ext cx="2606040" cy="2029968"/>
          </a:xfrm>
          <a:prstGeom prst="rect">
            <a:avLst/>
          </a:prstGeom>
          <a:solidFill>
            <a:srgbClr val="0D2B1A"/>
          </a:solidFill>
          <a:ln w="12700">
            <a:solidFill>
              <a:srgbClr val="1A4D2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172200" y="2926080"/>
            <a:ext cx="2606040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81928" y="299008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3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(12 Months)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281928" y="3520440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28232" y="348386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50 colleges via UGC/AICTE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281928" y="3867912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28232" y="383133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Partner: iCall, NIMHANS, Vandrevala Foundation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281928" y="4215384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28232" y="417880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learning across all nodes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281928" y="4562856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28232" y="45262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of Education partnership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2B1A"/>
          </a:solidFill>
          <a:ln w="12700">
            <a:solidFill>
              <a:srgbClr val="1A4D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ETHICS &amp; PRIVACY — BUILT-IN, NOT BOLTED 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0" y="1645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8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08 / 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749808"/>
            <a:ext cx="4160520" cy="1207008"/>
          </a:xfrm>
          <a:prstGeom prst="rect">
            <a:avLst/>
          </a:prstGeom>
          <a:solidFill>
            <a:srgbClr val="0D2B1A"/>
          </a:solidFill>
          <a:ln w="12700">
            <a:solidFill>
              <a:srgbClr val="1A4D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749808"/>
            <a:ext cx="54864" cy="1207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0624" y="8229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60120" y="84124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 On-Device Processing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1170432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AI inference runs locally. No behavioral data ever transmitted to any server. No breach possible.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749808"/>
            <a:ext cx="4160520" cy="1207008"/>
          </a:xfrm>
          <a:prstGeom prst="rect">
            <a:avLst/>
          </a:prstGeom>
          <a:solidFill>
            <a:srgbClr val="0D2B1A"/>
          </a:solidFill>
          <a:ln w="12700">
            <a:solidFill>
              <a:srgbClr val="1A4D2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749808"/>
            <a:ext cx="54864" cy="1207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55464" y="8229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✋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394960" y="84124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Consent-First Architecture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94960" y="1170432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opt-in required. Users can pause or delete all data at any moment. Full transparency dashboard.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2139696"/>
            <a:ext cx="4160520" cy="1207008"/>
          </a:xfrm>
          <a:prstGeom prst="rect">
            <a:avLst/>
          </a:prstGeom>
          <a:solidFill>
            <a:srgbClr val="0D2B1A"/>
          </a:solidFill>
          <a:ln w="12700">
            <a:solidFill>
              <a:srgbClr val="1A4D2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139696"/>
            <a:ext cx="54864" cy="1207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0624" y="221284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🎭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60120" y="2231136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Surveillance, No Profiling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0120" y="2560320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scores anomaly vs. YOUR baseline only. No permanent psychological labeling or database of mental state.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09160" y="2139696"/>
            <a:ext cx="4160520" cy="1207008"/>
          </a:xfrm>
          <a:prstGeom prst="rect">
            <a:avLst/>
          </a:prstGeom>
          <a:solidFill>
            <a:srgbClr val="0D2B1A"/>
          </a:solidFill>
          <a:ln w="12700">
            <a:solidFill>
              <a:srgbClr val="1A4D2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09160" y="2139696"/>
            <a:ext cx="54864" cy="1207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55464" y="221284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394960" y="2231136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Gentle, Non-Alarming Interventions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394960" y="2560320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is compassionate: mood check-in → counselor → helpline. Never alarms, never stigmatizes.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74320" y="3529584"/>
            <a:ext cx="4160520" cy="1207008"/>
          </a:xfrm>
          <a:prstGeom prst="rect">
            <a:avLst/>
          </a:prstGeom>
          <a:solidFill>
            <a:srgbClr val="0D2B1A"/>
          </a:solidFill>
          <a:ln w="12700">
            <a:solidFill>
              <a:srgbClr val="1A4D2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3529584"/>
            <a:ext cx="54864" cy="1207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0624" y="3602736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🌍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960120" y="3621024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Inclusivity by Design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60120" y="3950208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₹8,000 Android phones. No subscription fee. Multilingual support (Hindi, Tamil, Telugu + 8 more).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09160" y="3529584"/>
            <a:ext cx="4160520" cy="1207008"/>
          </a:xfrm>
          <a:prstGeom prst="rect">
            <a:avLst/>
          </a:prstGeom>
          <a:solidFill>
            <a:srgbClr val="0D2B1A"/>
          </a:solidFill>
          <a:ln w="12700">
            <a:solidFill>
              <a:srgbClr val="1A4D2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09160" y="3529584"/>
            <a:ext cx="54864" cy="1207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55464" y="3602736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🔬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5394960" y="3621024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IRB Research Compliance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394960" y="3950208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institutional ethics review. All data use follows ICMR data governance guidelines.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A4D2E"/>
          </a:solidFill>
          <a:ln w="12700">
            <a:solidFill>
              <a:srgbClr val="1A4D2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727448"/>
            <a:ext cx="841248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hackathon is dedicated to providing a safe and comfortable environment for everyone." — We designed CrisisSignal to reflect those exact values.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12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2B1A"/>
          </a:solidFill>
          <a:ln w="12700">
            <a:solidFill>
              <a:srgbClr val="1A4D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STACK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0" y="1645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8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09 / 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749808"/>
            <a:ext cx="2697480" cy="4023360"/>
          </a:xfrm>
          <a:prstGeom prst="rect">
            <a:avLst/>
          </a:prstGeom>
          <a:solidFill>
            <a:srgbClr val="0D2B1A"/>
          </a:solidFill>
          <a:ln w="12700">
            <a:solidFill>
              <a:srgbClr val="1A4D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749808"/>
            <a:ext cx="2697480" cy="3474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768096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A0F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CORE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207008"/>
            <a:ext cx="2514600" cy="512064"/>
          </a:xfrm>
          <a:prstGeom prst="rect">
            <a:avLst/>
          </a:prstGeom>
          <a:solidFill>
            <a:srgbClr val="0F3D22"/>
          </a:solidFill>
          <a:ln w="12700">
            <a:solidFill>
              <a:srgbClr val="1A4D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24358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38912" y="14630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1801368"/>
            <a:ext cx="2514600" cy="512064"/>
          </a:xfrm>
          <a:prstGeom prst="rect">
            <a:avLst/>
          </a:prstGeom>
          <a:solidFill>
            <a:srgbClr val="0F3D22"/>
          </a:solidFill>
          <a:ln w="12700">
            <a:solidFill>
              <a:srgbClr val="1A4D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183794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/ Keras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38912" y="20574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model training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395728"/>
            <a:ext cx="2514600" cy="512064"/>
          </a:xfrm>
          <a:prstGeom prst="rect">
            <a:avLst/>
          </a:prstGeom>
          <a:solidFill>
            <a:srgbClr val="0F3D22"/>
          </a:solidFill>
          <a:ln w="12700">
            <a:solidFill>
              <a:srgbClr val="1A4D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43230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Lite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38912" y="265176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inference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2990088"/>
            <a:ext cx="2514600" cy="512064"/>
          </a:xfrm>
          <a:prstGeom prst="rect">
            <a:avLst/>
          </a:prstGeom>
          <a:solidFill>
            <a:srgbClr val="0F3D22"/>
          </a:solidFill>
          <a:ln w="12700">
            <a:solidFill>
              <a:srgbClr val="1A4D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302666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38912" y="32461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+ evaluation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3584448"/>
            <a:ext cx="2514600" cy="512064"/>
          </a:xfrm>
          <a:prstGeom prst="rect">
            <a:avLst/>
          </a:prstGeom>
          <a:solidFill>
            <a:srgbClr val="0F3D22"/>
          </a:solidFill>
          <a:ln w="12700">
            <a:solidFill>
              <a:srgbClr val="1A4D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62102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38912" y="384048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&amp; explainability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4178808"/>
            <a:ext cx="2514600" cy="512064"/>
          </a:xfrm>
          <a:prstGeom prst="rect">
            <a:avLst/>
          </a:prstGeom>
          <a:solidFill>
            <a:srgbClr val="0F3D22"/>
          </a:solidFill>
          <a:ln w="12700">
            <a:solidFill>
              <a:srgbClr val="1A4D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912" y="421538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/ NumPy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38912" y="44348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manipulation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18688" y="749808"/>
            <a:ext cx="2697480" cy="4023360"/>
          </a:xfrm>
          <a:prstGeom prst="rect">
            <a:avLst/>
          </a:prstGeom>
          <a:solidFill>
            <a:srgbClr val="0D2B1A"/>
          </a:solidFill>
          <a:ln w="12700">
            <a:solidFill>
              <a:srgbClr val="4D3D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18688" y="749808"/>
            <a:ext cx="269748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10128" y="768096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A0F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VALIDATION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310128" y="1207008"/>
            <a:ext cx="2514600" cy="512064"/>
          </a:xfrm>
          <a:prstGeom prst="rect">
            <a:avLst/>
          </a:prstGeom>
          <a:solidFill>
            <a:srgbClr val="0F3D22"/>
          </a:solidFill>
          <a:ln w="12700">
            <a:solidFill>
              <a:srgbClr val="1A4D2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83280" y="124358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StudentLife Dataset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3383280" y="14630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Dartmouth — primary training data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310128" y="1801368"/>
            <a:ext cx="2514600" cy="512064"/>
          </a:xfrm>
          <a:prstGeom prst="rect">
            <a:avLst/>
          </a:prstGeom>
          <a:solidFill>
            <a:srgbClr val="0F3D22"/>
          </a:solidFill>
          <a:ln w="12700">
            <a:solidFill>
              <a:srgbClr val="1A4D2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83280" y="183794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PHQ-9 Scale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3383280" y="20574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Depression ground-truth labels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310128" y="2395728"/>
            <a:ext cx="2514600" cy="512064"/>
          </a:xfrm>
          <a:prstGeom prst="rect">
            <a:avLst/>
          </a:prstGeom>
          <a:solidFill>
            <a:srgbClr val="0F3D22"/>
          </a:solidFill>
          <a:ln w="12700">
            <a:solidFill>
              <a:srgbClr val="1A4D2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83280" y="243230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/ Seaborn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3383280" y="265176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310128" y="2990088"/>
            <a:ext cx="2514600" cy="512064"/>
          </a:xfrm>
          <a:prstGeom prst="rect">
            <a:avLst/>
          </a:prstGeom>
          <a:solidFill>
            <a:srgbClr val="0F3D22"/>
          </a:solidFill>
          <a:ln w="12700">
            <a:solidFill>
              <a:srgbClr val="1A4D2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83280" y="302666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3383280" y="32461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demo dashboard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310128" y="3584448"/>
            <a:ext cx="2514600" cy="512064"/>
          </a:xfrm>
          <a:prstGeom prst="rect">
            <a:avLst/>
          </a:prstGeom>
          <a:solidFill>
            <a:srgbClr val="0F3D22"/>
          </a:solidFill>
          <a:ln w="12700">
            <a:solidFill>
              <a:srgbClr val="1A4D2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83280" y="362102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3383280" y="384048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310128" y="4178808"/>
            <a:ext cx="2514600" cy="512064"/>
          </a:xfrm>
          <a:prstGeom prst="rect">
            <a:avLst/>
          </a:prstGeom>
          <a:solidFill>
            <a:srgbClr val="0F3D22"/>
          </a:solidFill>
          <a:ln w="12700">
            <a:solidFill>
              <a:srgbClr val="1A4D2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383280" y="421538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Learning (FL)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3383280" y="44348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Privacy-preserving global model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163056" y="749808"/>
            <a:ext cx="2697480" cy="4023360"/>
          </a:xfrm>
          <a:prstGeom prst="rect">
            <a:avLst/>
          </a:prstGeom>
          <a:solidFill>
            <a:srgbClr val="0D2B1A"/>
          </a:solidFill>
          <a:ln w="12700">
            <a:solidFill>
              <a:srgbClr val="1A4D2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163056" y="749808"/>
            <a:ext cx="2697480" cy="3474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54496" y="768096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A0F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/ IMPACT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254496" y="1207008"/>
            <a:ext cx="2514600" cy="512064"/>
          </a:xfrm>
          <a:prstGeom prst="rect">
            <a:avLst/>
          </a:prstGeom>
          <a:solidFill>
            <a:srgbClr val="0F3D22"/>
          </a:solidFill>
          <a:ln w="12700">
            <a:solidFill>
              <a:srgbClr val="1A4D2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27648" y="124358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SDK / Kotlin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6327648" y="14630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mobile app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6254496" y="1801368"/>
            <a:ext cx="2514600" cy="512064"/>
          </a:xfrm>
          <a:prstGeom prst="rect">
            <a:avLst/>
          </a:prstGeom>
          <a:solidFill>
            <a:srgbClr val="0F3D22"/>
          </a:solidFill>
          <a:ln w="12700">
            <a:solidFill>
              <a:srgbClr val="1A4D2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27648" y="183794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iCall API</a:t>
            </a:r>
            <a:endParaRPr lang="en-US" sz="1150" dirty="0"/>
          </a:p>
        </p:txBody>
      </p:sp>
      <p:sp>
        <p:nvSpPr>
          <p:cNvPr id="56" name="Text 54"/>
          <p:cNvSpPr/>
          <p:nvPr/>
        </p:nvSpPr>
        <p:spPr>
          <a:xfrm>
            <a:off x="6327648" y="20574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TISS India counseling integration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6254496" y="2395728"/>
            <a:ext cx="2514600" cy="512064"/>
          </a:xfrm>
          <a:prstGeom prst="rect">
            <a:avLst/>
          </a:prstGeom>
          <a:solidFill>
            <a:srgbClr val="0F3D22"/>
          </a:solidFill>
          <a:ln w="12700">
            <a:solidFill>
              <a:srgbClr val="1A4D2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327648" y="243230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Vandrevala Foundation</a:t>
            </a:r>
            <a:endParaRPr lang="en-US" sz="1150" dirty="0"/>
          </a:p>
        </p:txBody>
      </p:sp>
      <p:sp>
        <p:nvSpPr>
          <p:cNvPr id="59" name="Text 57"/>
          <p:cNvSpPr/>
          <p:nvPr/>
        </p:nvSpPr>
        <p:spPr>
          <a:xfrm>
            <a:off x="6327648" y="265176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helpline connection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6254496" y="2990088"/>
            <a:ext cx="2514600" cy="512064"/>
          </a:xfrm>
          <a:prstGeom prst="rect">
            <a:avLst/>
          </a:prstGeom>
          <a:solidFill>
            <a:srgbClr val="0F3D22"/>
          </a:solidFill>
          <a:ln w="12700">
            <a:solidFill>
              <a:srgbClr val="1A4D2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327648" y="302666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Flower (flwr)</a:t>
            </a:r>
            <a:endParaRPr lang="en-US" sz="1150" dirty="0"/>
          </a:p>
        </p:txBody>
      </p:sp>
      <p:sp>
        <p:nvSpPr>
          <p:cNvPr id="62" name="Text 60"/>
          <p:cNvSpPr/>
          <p:nvPr/>
        </p:nvSpPr>
        <p:spPr>
          <a:xfrm>
            <a:off x="6327648" y="32461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learning orchestration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6254496" y="3584448"/>
            <a:ext cx="2514600" cy="512064"/>
          </a:xfrm>
          <a:prstGeom prst="rect">
            <a:avLst/>
          </a:prstGeom>
          <a:solidFill>
            <a:srgbClr val="0F3D22"/>
          </a:solidFill>
          <a:ln w="12700">
            <a:solidFill>
              <a:srgbClr val="1A4D2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327648" y="362102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(planned)</a:t>
            </a:r>
            <a:endParaRPr lang="en-US" sz="1150" dirty="0"/>
          </a:p>
        </p:txBody>
      </p:sp>
      <p:sp>
        <p:nvSpPr>
          <p:cNvPr id="65" name="Text 63"/>
          <p:cNvSpPr/>
          <p:nvPr/>
        </p:nvSpPr>
        <p:spPr>
          <a:xfrm>
            <a:off x="6327648" y="384048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Counselor notification push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6254496" y="4178808"/>
            <a:ext cx="2514600" cy="512064"/>
          </a:xfrm>
          <a:prstGeom prst="rect">
            <a:avLst/>
          </a:prstGeom>
          <a:solidFill>
            <a:srgbClr val="0F3D22"/>
          </a:solidFill>
          <a:ln w="12700">
            <a:solidFill>
              <a:srgbClr val="1A4D2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327648" y="421538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NIMHANS Protocols</a:t>
            </a:r>
            <a:endParaRPr lang="en-US" sz="1150" dirty="0"/>
          </a:p>
        </p:txBody>
      </p:sp>
      <p:sp>
        <p:nvSpPr>
          <p:cNvPr id="68" name="Text 66"/>
          <p:cNvSpPr/>
          <p:nvPr/>
        </p:nvSpPr>
        <p:spPr>
          <a:xfrm>
            <a:off x="6327648" y="44348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ethics alignment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2B1A"/>
          </a:solidFill>
          <a:ln w="12700">
            <a:solidFill>
              <a:srgbClr val="1A4D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CRISIGSIGNAL WINS — COMPETITOR ANALYSIS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498080" y="1645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8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 / 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713232"/>
            <a:ext cx="1874520" cy="502920"/>
          </a:xfrm>
          <a:prstGeom prst="rect">
            <a:avLst/>
          </a:prstGeom>
          <a:solidFill>
            <a:srgbClr val="0F3D22"/>
          </a:solidFill>
          <a:ln w="12700">
            <a:solidFill>
              <a:srgbClr val="1A4D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1752" y="731520"/>
            <a:ext cx="175564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76272" y="713232"/>
            <a:ext cx="1508760" cy="502920"/>
          </a:xfrm>
          <a:prstGeom prst="rect">
            <a:avLst/>
          </a:prstGeom>
          <a:solidFill>
            <a:srgbClr val="0F3D22"/>
          </a:solidFill>
          <a:ln w="12700">
            <a:solidFill>
              <a:srgbClr val="1A4D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49424" y="731520"/>
            <a:ext cx="138988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Therapy Apps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(iCall, Wysa)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730752" y="713232"/>
            <a:ext cx="1508760" cy="502920"/>
          </a:xfrm>
          <a:prstGeom prst="rect">
            <a:avLst/>
          </a:prstGeom>
          <a:solidFill>
            <a:srgbClr val="0F3D22"/>
          </a:solidFill>
          <a:ln w="12700">
            <a:solidFill>
              <a:srgbClr val="1A4D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03904" y="731520"/>
            <a:ext cx="138988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Counselors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285232" y="713232"/>
            <a:ext cx="1508760" cy="502920"/>
          </a:xfrm>
          <a:prstGeom prst="rect">
            <a:avLst/>
          </a:prstGeom>
          <a:solidFill>
            <a:srgbClr val="0F3D22"/>
          </a:solidFill>
          <a:ln w="12700">
            <a:solidFill>
              <a:srgbClr val="1A4D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58384" y="731520"/>
            <a:ext cx="138988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839712" y="713232"/>
            <a:ext cx="1874520" cy="502920"/>
          </a:xfrm>
          <a:prstGeom prst="rect">
            <a:avLst/>
          </a:prstGeom>
          <a:solidFill>
            <a:srgbClr val="22C55E"/>
          </a:solidFill>
          <a:ln w="12700">
            <a:solidFill>
              <a:srgbClr val="1A4D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12864" y="731520"/>
            <a:ext cx="175564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0A0F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CrisisSignal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28600" y="1261872"/>
            <a:ext cx="1874520" cy="457200"/>
          </a:xfrm>
          <a:prstGeom prst="rect">
            <a:avLst/>
          </a:prstGeom>
          <a:solidFill>
            <a:srgbClr val="0F3D22"/>
          </a:solidFill>
          <a:ln w="12700">
            <a:solidFill>
              <a:srgbClr val="1A4D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1289304"/>
            <a:ext cx="1719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Detection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176272" y="1261872"/>
            <a:ext cx="1508760" cy="457200"/>
          </a:xfrm>
          <a:prstGeom prst="rect">
            <a:avLst/>
          </a:prstGeom>
          <a:solidFill>
            <a:srgbClr val="0D2015"/>
          </a:solidFill>
          <a:ln w="12700">
            <a:solidFill>
              <a:srgbClr val="12201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31136" y="1289304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Reactive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730752" y="1261872"/>
            <a:ext cx="1508760" cy="457200"/>
          </a:xfrm>
          <a:prstGeom prst="rect">
            <a:avLst/>
          </a:prstGeom>
          <a:solidFill>
            <a:srgbClr val="0D2015"/>
          </a:solidFill>
          <a:ln w="12700">
            <a:solidFill>
              <a:srgbClr val="12201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85616" y="1289304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Reactive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285232" y="1261872"/>
            <a:ext cx="1508760" cy="457200"/>
          </a:xfrm>
          <a:prstGeom prst="rect">
            <a:avLst/>
          </a:prstGeom>
          <a:solidFill>
            <a:srgbClr val="0D2015"/>
          </a:solidFill>
          <a:ln w="12700">
            <a:solidFill>
              <a:srgbClr val="12201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40096" y="1289304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Limited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839712" y="1261872"/>
            <a:ext cx="1874520" cy="457200"/>
          </a:xfrm>
          <a:prstGeom prst="rect">
            <a:avLst/>
          </a:prstGeom>
          <a:solidFill>
            <a:srgbClr val="0D2B1A"/>
          </a:solidFill>
          <a:ln w="12700">
            <a:solidFill>
              <a:srgbClr val="1A4D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94576" y="1289304"/>
            <a:ext cx="177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7-Day Early Warning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28600" y="1764792"/>
            <a:ext cx="1874520" cy="457200"/>
          </a:xfrm>
          <a:prstGeom prst="rect">
            <a:avLst/>
          </a:prstGeom>
          <a:solidFill>
            <a:srgbClr val="0F3D22"/>
          </a:solidFill>
          <a:ln w="12700">
            <a:solidFill>
              <a:srgbClr val="1A4D2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1792224"/>
            <a:ext cx="1719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to User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176272" y="1764792"/>
            <a:ext cx="1508760" cy="457200"/>
          </a:xfrm>
          <a:prstGeom prst="rect">
            <a:avLst/>
          </a:prstGeom>
          <a:solidFill>
            <a:srgbClr val="0A1812"/>
          </a:solidFill>
          <a:ln w="12700">
            <a:solidFill>
              <a:srgbClr val="12201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31136" y="1792224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Paid/Freemium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730752" y="1764792"/>
            <a:ext cx="1508760" cy="457200"/>
          </a:xfrm>
          <a:prstGeom prst="rect">
            <a:avLst/>
          </a:prstGeom>
          <a:solidFill>
            <a:srgbClr val="0A1812"/>
          </a:solidFill>
          <a:ln w="12700">
            <a:solidFill>
              <a:srgbClr val="12201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85616" y="1792224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Unavailable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285232" y="1764792"/>
            <a:ext cx="1508760" cy="457200"/>
          </a:xfrm>
          <a:prstGeom prst="rect">
            <a:avLst/>
          </a:prstGeom>
          <a:solidFill>
            <a:srgbClr val="0A1812"/>
          </a:solidFill>
          <a:ln w="12700">
            <a:solidFill>
              <a:srgbClr val="12201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40096" y="1792224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₹20,000+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839712" y="1764792"/>
            <a:ext cx="1874520" cy="457200"/>
          </a:xfrm>
          <a:prstGeom prst="rect">
            <a:avLst/>
          </a:prstGeom>
          <a:solidFill>
            <a:srgbClr val="0D2B1A"/>
          </a:solidFill>
          <a:ln w="12700">
            <a:solidFill>
              <a:srgbClr val="1A4D2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94576" y="1792224"/>
            <a:ext cx="177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₹0 Forever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28600" y="2267712"/>
            <a:ext cx="1874520" cy="457200"/>
          </a:xfrm>
          <a:prstGeom prst="rect">
            <a:avLst/>
          </a:prstGeom>
          <a:solidFill>
            <a:srgbClr val="0F3D22"/>
          </a:solidFill>
          <a:ln w="12700">
            <a:solidFill>
              <a:srgbClr val="1A4D2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2295144"/>
            <a:ext cx="1719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/ No Data Leak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176272" y="2267712"/>
            <a:ext cx="1508760" cy="457200"/>
          </a:xfrm>
          <a:prstGeom prst="rect">
            <a:avLst/>
          </a:prstGeom>
          <a:solidFill>
            <a:srgbClr val="0D2015"/>
          </a:solidFill>
          <a:ln w="12700">
            <a:solidFill>
              <a:srgbClr val="12201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231136" y="2295144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Cloud-Based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730752" y="2267712"/>
            <a:ext cx="1508760" cy="457200"/>
          </a:xfrm>
          <a:prstGeom prst="rect">
            <a:avLst/>
          </a:prstGeom>
          <a:solidFill>
            <a:srgbClr val="0D2015"/>
          </a:solidFill>
          <a:ln w="12700">
            <a:solidFill>
              <a:srgbClr val="12201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785616" y="2295144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In-Person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285232" y="2267712"/>
            <a:ext cx="1508760" cy="457200"/>
          </a:xfrm>
          <a:prstGeom prst="rect">
            <a:avLst/>
          </a:prstGeom>
          <a:solidFill>
            <a:srgbClr val="0D2015"/>
          </a:solidFill>
          <a:ln w="12700">
            <a:solidFill>
              <a:srgbClr val="12201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40096" y="2295144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Cloud Sync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839712" y="2267712"/>
            <a:ext cx="1874520" cy="457200"/>
          </a:xfrm>
          <a:prstGeom prst="rect">
            <a:avLst/>
          </a:prstGeom>
          <a:solidFill>
            <a:srgbClr val="0D2B1A"/>
          </a:solidFill>
          <a:ln w="12700">
            <a:solidFill>
              <a:srgbClr val="1A4D2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94576" y="2295144"/>
            <a:ext cx="177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100% On-Device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228600" y="2770632"/>
            <a:ext cx="1874520" cy="457200"/>
          </a:xfrm>
          <a:prstGeom prst="rect">
            <a:avLst/>
          </a:prstGeom>
          <a:solidFill>
            <a:srgbClr val="0F3D22"/>
          </a:solidFill>
          <a:ln w="12700">
            <a:solidFill>
              <a:srgbClr val="1A4D2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0040" y="2798064"/>
            <a:ext cx="1719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2176272" y="2770632"/>
            <a:ext cx="1508760" cy="457200"/>
          </a:xfrm>
          <a:prstGeom prst="rect">
            <a:avLst/>
          </a:prstGeom>
          <a:solidFill>
            <a:srgbClr val="0A1812"/>
          </a:solidFill>
          <a:ln w="12700">
            <a:solidFill>
              <a:srgbClr val="12201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231136" y="2798064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Limited Reach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3730752" y="2770632"/>
            <a:ext cx="1508760" cy="457200"/>
          </a:xfrm>
          <a:prstGeom prst="rect">
            <a:avLst/>
          </a:prstGeom>
          <a:solidFill>
            <a:srgbClr val="0A1812"/>
          </a:solidFill>
          <a:ln w="12700">
            <a:solidFill>
              <a:srgbClr val="12201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785616" y="2798064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1:1000 Ratio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5285232" y="2770632"/>
            <a:ext cx="1508760" cy="457200"/>
          </a:xfrm>
          <a:prstGeom prst="rect">
            <a:avLst/>
          </a:prstGeom>
          <a:solidFill>
            <a:srgbClr val="0A1812"/>
          </a:solidFill>
          <a:ln w="12700">
            <a:solidFill>
              <a:srgbClr val="12201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340096" y="2798064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Hardware Req.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6839712" y="2770632"/>
            <a:ext cx="1874520" cy="457200"/>
          </a:xfrm>
          <a:prstGeom prst="rect">
            <a:avLst/>
          </a:prstGeom>
          <a:solidFill>
            <a:srgbClr val="0D2B1A"/>
          </a:solidFill>
          <a:ln w="12700">
            <a:solidFill>
              <a:srgbClr val="1A4D2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894576" y="2798064"/>
            <a:ext cx="177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750M Phones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228600" y="3273552"/>
            <a:ext cx="1874520" cy="457200"/>
          </a:xfrm>
          <a:prstGeom prst="rect">
            <a:avLst/>
          </a:prstGeom>
          <a:solidFill>
            <a:srgbClr val="0F3D22"/>
          </a:solidFill>
          <a:ln w="12700">
            <a:solidFill>
              <a:srgbClr val="1A4D2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20040" y="3300984"/>
            <a:ext cx="1719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Hardware Needed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2176272" y="3273552"/>
            <a:ext cx="1508760" cy="457200"/>
          </a:xfrm>
          <a:prstGeom prst="rect">
            <a:avLst/>
          </a:prstGeom>
          <a:solidFill>
            <a:srgbClr val="0D2015"/>
          </a:solidFill>
          <a:ln w="12700">
            <a:solidFill>
              <a:srgbClr val="12201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231136" y="3300984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App Only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3730752" y="3273552"/>
            <a:ext cx="1508760" cy="457200"/>
          </a:xfrm>
          <a:prstGeom prst="rect">
            <a:avLst/>
          </a:prstGeom>
          <a:solidFill>
            <a:srgbClr val="0D2015"/>
          </a:solidFill>
          <a:ln w="12700">
            <a:solidFill>
              <a:srgbClr val="12201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785616" y="3300984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In-Person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5285232" y="3273552"/>
            <a:ext cx="1508760" cy="457200"/>
          </a:xfrm>
          <a:prstGeom prst="rect">
            <a:avLst/>
          </a:prstGeom>
          <a:solidFill>
            <a:srgbClr val="0D2015"/>
          </a:solidFill>
          <a:ln w="12700">
            <a:solidFill>
              <a:srgbClr val="12201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340096" y="3300984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Requires Device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6839712" y="3273552"/>
            <a:ext cx="1874520" cy="457200"/>
          </a:xfrm>
          <a:prstGeom prst="rect">
            <a:avLst/>
          </a:prstGeom>
          <a:solidFill>
            <a:srgbClr val="0D2B1A"/>
          </a:solidFill>
          <a:ln w="12700">
            <a:solidFill>
              <a:srgbClr val="1A4D2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894576" y="3300984"/>
            <a:ext cx="177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Any Android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228600" y="3776472"/>
            <a:ext cx="1874520" cy="457200"/>
          </a:xfrm>
          <a:prstGeom prst="rect">
            <a:avLst/>
          </a:prstGeom>
          <a:solidFill>
            <a:srgbClr val="0F3D22"/>
          </a:solidFill>
          <a:ln w="12700">
            <a:solidFill>
              <a:srgbClr val="1A4D2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20040" y="3803904"/>
            <a:ext cx="1719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(No Effort)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2176272" y="3776472"/>
            <a:ext cx="1508760" cy="457200"/>
          </a:xfrm>
          <a:prstGeom prst="rect">
            <a:avLst/>
          </a:prstGeom>
          <a:solidFill>
            <a:srgbClr val="0A1812"/>
          </a:solidFill>
          <a:ln w="12700">
            <a:solidFill>
              <a:srgbClr val="12201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231136" y="3803904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Self-Report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3730752" y="3776472"/>
            <a:ext cx="1508760" cy="457200"/>
          </a:xfrm>
          <a:prstGeom prst="rect">
            <a:avLst/>
          </a:prstGeom>
          <a:solidFill>
            <a:srgbClr val="0A1812"/>
          </a:solidFill>
          <a:ln w="12700">
            <a:solidFill>
              <a:srgbClr val="12201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785616" y="3803904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Must Book Appt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5285232" y="3776472"/>
            <a:ext cx="1508760" cy="457200"/>
          </a:xfrm>
          <a:prstGeom prst="rect">
            <a:avLst/>
          </a:prstGeom>
          <a:solidFill>
            <a:srgbClr val="0A1812"/>
          </a:solidFill>
          <a:ln w="12700">
            <a:solidFill>
              <a:srgbClr val="12201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340096" y="3803904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Partial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6839712" y="3776472"/>
            <a:ext cx="1874520" cy="457200"/>
          </a:xfrm>
          <a:prstGeom prst="rect">
            <a:avLst/>
          </a:prstGeom>
          <a:solidFill>
            <a:srgbClr val="0D2B1A"/>
          </a:solidFill>
          <a:ln w="12700">
            <a:solidFill>
              <a:srgbClr val="1A4D2E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894576" y="3803904"/>
            <a:ext cx="177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Fully Passive</a:t>
            </a:r>
            <a:endParaRPr lang="en-US" sz="1050" dirty="0"/>
          </a:p>
        </p:txBody>
      </p:sp>
      <p:sp>
        <p:nvSpPr>
          <p:cNvPr id="76" name="Shape 74"/>
          <p:cNvSpPr/>
          <p:nvPr/>
        </p:nvSpPr>
        <p:spPr>
          <a:xfrm>
            <a:off x="228600" y="4279392"/>
            <a:ext cx="1874520" cy="457200"/>
          </a:xfrm>
          <a:prstGeom prst="rect">
            <a:avLst/>
          </a:prstGeom>
          <a:solidFill>
            <a:srgbClr val="0F3D22"/>
          </a:solidFill>
          <a:ln w="12700">
            <a:solidFill>
              <a:srgbClr val="1A4D2E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20040" y="4306824"/>
            <a:ext cx="1719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Powered</a:t>
            </a:r>
            <a:endParaRPr lang="en-US" sz="1050" dirty="0"/>
          </a:p>
        </p:txBody>
      </p:sp>
      <p:sp>
        <p:nvSpPr>
          <p:cNvPr id="78" name="Shape 76"/>
          <p:cNvSpPr/>
          <p:nvPr/>
        </p:nvSpPr>
        <p:spPr>
          <a:xfrm>
            <a:off x="2176272" y="4279392"/>
            <a:ext cx="1508760" cy="457200"/>
          </a:xfrm>
          <a:prstGeom prst="rect">
            <a:avLst/>
          </a:prstGeom>
          <a:solidFill>
            <a:srgbClr val="0D2015"/>
          </a:solidFill>
          <a:ln w="12700">
            <a:solidFill>
              <a:srgbClr val="122018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231136" y="4306824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Rule-Based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3730752" y="4279392"/>
            <a:ext cx="1508760" cy="457200"/>
          </a:xfrm>
          <a:prstGeom prst="rect">
            <a:avLst/>
          </a:prstGeom>
          <a:solidFill>
            <a:srgbClr val="0D2015"/>
          </a:solidFill>
          <a:ln w="12700">
            <a:solidFill>
              <a:srgbClr val="122018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785616" y="4306824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Human Only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5285232" y="4279392"/>
            <a:ext cx="1508760" cy="457200"/>
          </a:xfrm>
          <a:prstGeom prst="rect">
            <a:avLst/>
          </a:prstGeom>
          <a:solidFill>
            <a:srgbClr val="0D2015"/>
          </a:solidFill>
          <a:ln w="12700">
            <a:solidFill>
              <a:srgbClr val="122018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340096" y="4306824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Basic Analytics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6839712" y="4279392"/>
            <a:ext cx="1874520" cy="457200"/>
          </a:xfrm>
          <a:prstGeom prst="rect">
            <a:avLst/>
          </a:prstGeom>
          <a:solidFill>
            <a:srgbClr val="0D2B1A"/>
          </a:solidFill>
          <a:ln w="12700">
            <a:solidFill>
              <a:srgbClr val="1A4D2E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894576" y="4306824"/>
            <a:ext cx="177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LSTM + Federated</a:t>
            </a:r>
            <a:endParaRPr lang="en-US" sz="1050" dirty="0"/>
          </a:p>
        </p:txBody>
      </p:sp>
      <p:sp>
        <p:nvSpPr>
          <p:cNvPr id="86" name="Shape 84"/>
          <p:cNvSpPr/>
          <p:nvPr/>
        </p:nvSpPr>
        <p:spPr>
          <a:xfrm>
            <a:off x="228600" y="4800600"/>
            <a:ext cx="8686800" cy="256032"/>
          </a:xfrm>
          <a:prstGeom prst="rect">
            <a:avLst/>
          </a:prstGeom>
          <a:solidFill>
            <a:srgbClr val="1A4D2E"/>
          </a:solidFill>
          <a:ln w="12700">
            <a:solidFill>
              <a:srgbClr val="1A4D2E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65760" y="480974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CrisisSignal is the only solution that is proactive, passive, free, private, and scalable to 750 million users simultaneously.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12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2B1A"/>
          </a:solidFill>
          <a:ln w="12700">
            <a:solidFill>
              <a:srgbClr val="1A4D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SUSTAINABILITY &amp; BUSINESS MODEL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498080" y="1645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8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 /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65836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8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for students forever. Funded by the institutions and governments that benefit most.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6032" y="1024128"/>
            <a:ext cx="2724912" cy="3794760"/>
          </a:xfrm>
          <a:prstGeom prst="rect">
            <a:avLst/>
          </a:prstGeom>
          <a:solidFill>
            <a:srgbClr val="0D2B1A"/>
          </a:solidFill>
          <a:ln w="12700">
            <a:solidFill>
              <a:srgbClr val="1A4D2E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1024128"/>
            <a:ext cx="2724912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" y="1097280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REVENUE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93192" y="13258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🏫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93192" y="1828800"/>
            <a:ext cx="24505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B2B College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Subscriptions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93192" y="2450592"/>
            <a:ext cx="2423160" cy="0"/>
          </a:xfrm>
          <a:prstGeom prst="line">
            <a:avLst/>
          </a:prstGeom>
          <a:noFill/>
          <a:ln w="6350">
            <a:solidFill>
              <a:srgbClr val="1A4D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93192" y="2560320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523744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₹5,000/month per institution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93192" y="2944368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90779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Counselor dashboard access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93192" y="3328416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29184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Anonymized population risk reports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93192" y="3712464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675888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500 colleges = ₹25L/month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93192" y="4096512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059936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NAAC accreditation tie-in incentive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0" y="1024128"/>
            <a:ext cx="2724912" cy="3794760"/>
          </a:xfrm>
          <a:prstGeom prst="rect">
            <a:avLst/>
          </a:prstGeom>
          <a:solidFill>
            <a:srgbClr val="0D2B1A"/>
          </a:solidFill>
          <a:ln w="12700">
            <a:solidFill>
              <a:srgbClr val="4D3D0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0" y="1024128"/>
            <a:ext cx="2724912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37560" y="1097280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FUNDING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337560" y="13258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🏛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3337560" y="1828800"/>
            <a:ext cx="24505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Government &amp;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NGO Grants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337560" y="2450592"/>
            <a:ext cx="2423160" cy="0"/>
          </a:xfrm>
          <a:prstGeom prst="line">
            <a:avLst/>
          </a:prstGeom>
          <a:noFill/>
          <a:ln w="6350">
            <a:solidFill>
              <a:srgbClr val="1A4D2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37560" y="256032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93008" y="2523744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DST NIDHI / TIDE 2.0 startup grant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337560" y="294436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93008" y="290779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of Education NIRF grant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337560" y="3328416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93008" y="329184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mental health innovation fund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337560" y="3712464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93008" y="3675888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Dreams Foundation seed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337560" y="4096512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93008" y="4059936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 funding from IT sector cos.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144768" y="1024128"/>
            <a:ext cx="2724912" cy="3794760"/>
          </a:xfrm>
          <a:prstGeom prst="rect">
            <a:avLst/>
          </a:prstGeom>
          <a:solidFill>
            <a:srgbClr val="0D2B1A"/>
          </a:solidFill>
          <a:ln w="12700">
            <a:solidFill>
              <a:srgbClr val="1A4D2E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144768" y="1024128"/>
            <a:ext cx="2724912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81928" y="1097280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SCALE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281928" y="13258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🏥</a:t>
            </a:r>
            <a:endParaRPr lang="en-US" sz="2600" dirty="0"/>
          </a:p>
        </p:txBody>
      </p:sp>
      <p:sp>
        <p:nvSpPr>
          <p:cNvPr id="43" name="Text 41"/>
          <p:cNvSpPr/>
          <p:nvPr/>
        </p:nvSpPr>
        <p:spPr>
          <a:xfrm>
            <a:off x="6281928" y="1828800"/>
            <a:ext cx="24505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Healthcare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Partnerships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281928" y="2450592"/>
            <a:ext cx="2423160" cy="0"/>
          </a:xfrm>
          <a:prstGeom prst="line">
            <a:avLst/>
          </a:prstGeom>
          <a:noFill/>
          <a:ln w="6350">
            <a:solidFill>
              <a:srgbClr val="1A4D2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281928" y="2560320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37376" y="2523744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NIMHANS referral integration fee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281928" y="2944368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37376" y="290779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iCall / Vandrevala platform API deal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281928" y="3328416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37376" y="329184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cos. preventive care grants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281928" y="3712464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37376" y="3675888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AYUSH ministry mental wellness push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281928" y="4096512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37376" y="4059936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SEARO regional deployment deal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56032" y="4892040"/>
            <a:ext cx="8631936" cy="182880"/>
          </a:xfrm>
          <a:prstGeom prst="rect">
            <a:avLst/>
          </a:prstGeom>
          <a:solidFill>
            <a:srgbClr val="1A4D2E"/>
          </a:solidFill>
          <a:ln w="12700">
            <a:solidFill>
              <a:srgbClr val="1A4D2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65760" y="489204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Student-facing app stays ₹0 forever. No ads. No data selling. Infrastructure funded by institutions, not users.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A2E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28854"/>
            <a:ext cx="9144000" cy="0"/>
          </a:xfrm>
          <a:prstGeom prst="line">
            <a:avLst/>
          </a:prstGeom>
          <a:noFill/>
          <a:ln w="6350">
            <a:solidFill>
              <a:srgbClr val="1A2E2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57707"/>
            <a:ext cx="9144000" cy="0"/>
          </a:xfrm>
          <a:prstGeom prst="line">
            <a:avLst/>
          </a:prstGeom>
          <a:noFill/>
          <a:ln w="6350">
            <a:solidFill>
              <a:srgbClr val="1A2E2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286561"/>
            <a:ext cx="9144000" cy="0"/>
          </a:xfrm>
          <a:prstGeom prst="line">
            <a:avLst/>
          </a:prstGeom>
          <a:noFill/>
          <a:ln w="6350">
            <a:solidFill>
              <a:srgbClr val="1A2E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715414"/>
            <a:ext cx="9144000" cy="0"/>
          </a:xfrm>
          <a:prstGeom prst="line">
            <a:avLst/>
          </a:prstGeom>
          <a:noFill/>
          <a:ln w="6350">
            <a:solidFill>
              <a:srgbClr val="1A2E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144268"/>
            <a:ext cx="9144000" cy="0"/>
          </a:xfrm>
          <a:prstGeom prst="line">
            <a:avLst/>
          </a:prstGeom>
          <a:noFill/>
          <a:ln w="6350">
            <a:solidFill>
              <a:srgbClr val="1A2E2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2573122"/>
            <a:ext cx="9144000" cy="0"/>
          </a:xfrm>
          <a:prstGeom prst="line">
            <a:avLst/>
          </a:prstGeom>
          <a:noFill/>
          <a:ln w="6350">
            <a:solidFill>
              <a:srgbClr val="1A2E2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001975"/>
            <a:ext cx="9144000" cy="0"/>
          </a:xfrm>
          <a:prstGeom prst="line">
            <a:avLst/>
          </a:prstGeom>
          <a:noFill/>
          <a:ln w="6350">
            <a:solidFill>
              <a:srgbClr val="1A2E2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3430829"/>
            <a:ext cx="9144000" cy="0"/>
          </a:xfrm>
          <a:prstGeom prst="line">
            <a:avLst/>
          </a:prstGeom>
          <a:noFill/>
          <a:ln w="6350">
            <a:solidFill>
              <a:srgbClr val="1A2E2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3859682"/>
            <a:ext cx="9144000" cy="0"/>
          </a:xfrm>
          <a:prstGeom prst="line">
            <a:avLst/>
          </a:prstGeom>
          <a:noFill/>
          <a:ln w="6350">
            <a:solidFill>
              <a:srgbClr val="1A2E2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288536"/>
            <a:ext cx="9144000" cy="0"/>
          </a:xfrm>
          <a:prstGeom prst="line">
            <a:avLst/>
          </a:prstGeom>
          <a:noFill/>
          <a:ln w="6350">
            <a:solidFill>
              <a:srgbClr val="1A2E2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4717390"/>
            <a:ext cx="9144000" cy="0"/>
          </a:xfrm>
          <a:prstGeom prst="line">
            <a:avLst/>
          </a:prstGeom>
          <a:noFill/>
          <a:ln w="6350">
            <a:solidFill>
              <a:srgbClr val="1A2E2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01168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B8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GOOD HACKATHON 2026  ·  CONNECTING DREAMS FOUNDATION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5760" y="530352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E8F5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phone in every student's pocket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365760" y="1554480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F5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become a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365760" y="2130552"/>
            <a:ext cx="5577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silent guardian.</a:t>
            </a:r>
            <a:endParaRPr lang="en-US" sz="4200" dirty="0"/>
          </a:p>
        </p:txBody>
      </p:sp>
      <p:sp>
        <p:nvSpPr>
          <p:cNvPr id="19" name="Shape 17"/>
          <p:cNvSpPr/>
          <p:nvPr/>
        </p:nvSpPr>
        <p:spPr>
          <a:xfrm>
            <a:off x="6309360" y="502920"/>
            <a:ext cx="2606040" cy="3456432"/>
          </a:xfrm>
          <a:prstGeom prst="rect">
            <a:avLst/>
          </a:prstGeom>
          <a:solidFill>
            <a:srgbClr val="0D2B1A"/>
          </a:solidFill>
          <a:ln w="12700">
            <a:solidFill>
              <a:srgbClr val="1A4D2E"/>
            </a:solidFill>
            <a:prstDash val="solid"/>
          </a:ln>
          <a:effectLst>
            <a:outerShdw sx="100000" sy="100000" kx="0" ky="0" algn="bl" rotWithShape="0" blurRad="203200" dist="50800" dir="8100000">
              <a:srgbClr val="22C55E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09360" y="502920"/>
            <a:ext cx="260604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59436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629400" y="896112"/>
            <a:ext cx="1965960" cy="1508760"/>
          </a:xfrm>
          <a:prstGeom prst="rect">
            <a:avLst/>
          </a:prstGeom>
          <a:solidFill>
            <a:srgbClr val="0F3D22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656832" y="923544"/>
            <a:ext cx="256032" cy="2560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02552" y="969264"/>
            <a:ext cx="164592" cy="164592"/>
          </a:xfrm>
          <a:prstGeom prst="rect">
            <a:avLst/>
          </a:prstGeom>
          <a:solidFill>
            <a:srgbClr val="0D2B1A"/>
          </a:solidFill>
          <a:ln w="12700">
            <a:solidFill>
              <a:srgbClr val="0D2B1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94192" y="923544"/>
            <a:ext cx="256032" cy="2560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439912" y="969264"/>
            <a:ext cx="164592" cy="164592"/>
          </a:xfrm>
          <a:prstGeom prst="rect">
            <a:avLst/>
          </a:prstGeom>
          <a:solidFill>
            <a:srgbClr val="0D2B1A"/>
          </a:solidFill>
          <a:ln w="12700">
            <a:solidFill>
              <a:srgbClr val="0D2B1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56832" y="2185416"/>
            <a:ext cx="256032" cy="2560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02552" y="2231136"/>
            <a:ext cx="164592" cy="164592"/>
          </a:xfrm>
          <a:prstGeom prst="rect">
            <a:avLst/>
          </a:prstGeom>
          <a:solidFill>
            <a:srgbClr val="0D2B1A"/>
          </a:solidFill>
          <a:ln w="12700">
            <a:solidFill>
              <a:srgbClr val="0D2B1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95160" y="987552"/>
            <a:ext cx="91440" cy="914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50608" y="987552"/>
            <a:ext cx="91440" cy="914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306056" y="987552"/>
            <a:ext cx="91440" cy="914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461504" y="987552"/>
            <a:ext cx="91440" cy="914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616952" y="987552"/>
            <a:ext cx="91440" cy="914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818120" y="987552"/>
            <a:ext cx="91440" cy="914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973568" y="987552"/>
            <a:ext cx="91440" cy="914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995160" y="1143000"/>
            <a:ext cx="91440" cy="914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306056" y="1143000"/>
            <a:ext cx="91440" cy="914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461504" y="1143000"/>
            <a:ext cx="91440" cy="914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818120" y="1143000"/>
            <a:ext cx="91440" cy="914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129016" y="1143000"/>
            <a:ext cx="91440" cy="914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995160" y="1298448"/>
            <a:ext cx="91440" cy="914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150608" y="1298448"/>
            <a:ext cx="91440" cy="914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616952" y="1298448"/>
            <a:ext cx="91440" cy="914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818120" y="1298448"/>
            <a:ext cx="91440" cy="914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973568" y="1298448"/>
            <a:ext cx="91440" cy="914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129016" y="1298448"/>
            <a:ext cx="91440" cy="914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995160" y="1444752"/>
            <a:ext cx="91440" cy="914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461504" y="1444752"/>
            <a:ext cx="91440" cy="914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973568" y="1444752"/>
            <a:ext cx="91440" cy="914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995160" y="1600200"/>
            <a:ext cx="91440" cy="914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150608" y="1600200"/>
            <a:ext cx="91440" cy="914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306056" y="1600200"/>
            <a:ext cx="91440" cy="914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616952" y="1600200"/>
            <a:ext cx="91440" cy="914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818120" y="1600200"/>
            <a:ext cx="91440" cy="914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129016" y="1600200"/>
            <a:ext cx="91440" cy="914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995160" y="1755648"/>
            <a:ext cx="91440" cy="914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461504" y="1755648"/>
            <a:ext cx="91440" cy="914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616952" y="1755648"/>
            <a:ext cx="91440" cy="914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973568" y="1755648"/>
            <a:ext cx="91440" cy="914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995160" y="1911096"/>
            <a:ext cx="91440" cy="914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150608" y="1911096"/>
            <a:ext cx="91440" cy="914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461504" y="1911096"/>
            <a:ext cx="91440" cy="914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818120" y="1911096"/>
            <a:ext cx="91440" cy="914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973568" y="1911096"/>
            <a:ext cx="91440" cy="914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129016" y="1911096"/>
            <a:ext cx="91440" cy="914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995160" y="2066544"/>
            <a:ext cx="91440" cy="914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306056" y="2066544"/>
            <a:ext cx="91440" cy="914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461504" y="2066544"/>
            <a:ext cx="91440" cy="914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616952" y="2066544"/>
            <a:ext cx="91440" cy="914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129016" y="2066544"/>
            <a:ext cx="91440" cy="914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446520" y="245059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6B8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to view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6B8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Demo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6446520" y="2834640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A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Replace with your deployed link ]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6400800" y="3127248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79%</a:t>
            </a:r>
            <a:endParaRPr lang="en-US" sz="1400" dirty="0"/>
          </a:p>
        </p:txBody>
      </p:sp>
      <p:sp>
        <p:nvSpPr>
          <p:cNvPr id="74" name="Text 72"/>
          <p:cNvSpPr/>
          <p:nvPr/>
        </p:nvSpPr>
        <p:spPr>
          <a:xfrm>
            <a:off x="6400800" y="3456432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8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7269480" y="3127248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Days</a:t>
            </a:r>
            <a:endParaRPr lang="en-US" sz="1400" dirty="0"/>
          </a:p>
        </p:txBody>
      </p:sp>
      <p:sp>
        <p:nvSpPr>
          <p:cNvPr id="76" name="Text 74"/>
          <p:cNvSpPr/>
          <p:nvPr/>
        </p:nvSpPr>
        <p:spPr>
          <a:xfrm>
            <a:off x="7269480" y="3456432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8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8138160" y="3127248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₹0</a:t>
            </a:r>
            <a:endParaRPr lang="en-US" sz="1400" dirty="0"/>
          </a:p>
        </p:txBody>
      </p:sp>
      <p:sp>
        <p:nvSpPr>
          <p:cNvPr id="78" name="Text 76"/>
          <p:cNvSpPr/>
          <p:nvPr/>
        </p:nvSpPr>
        <p:spPr>
          <a:xfrm>
            <a:off x="8138160" y="3456432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8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749808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8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 / 12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365760" y="416052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 CrisisSignal</a:t>
            </a:r>
            <a:endParaRPr lang="en-US" sz="1800" dirty="0"/>
          </a:p>
        </p:txBody>
      </p:sp>
      <p:sp>
        <p:nvSpPr>
          <p:cNvPr id="81" name="Text 79"/>
          <p:cNvSpPr/>
          <p:nvPr/>
        </p:nvSpPr>
        <p:spPr>
          <a:xfrm>
            <a:off x="365760" y="457200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8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Good Hackathon 2026  ·  Changemaker League  ·  Connecting Dreams Foundation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CrisisSignal — AI for Good Hackathon 2026</dc:title>
  <dc:subject>PptxGenJS Presentation</dc:subject>
  <dc:creator>Team CrisisSignal</dc:creator>
  <cp:lastModifiedBy>Team CrisisSignal</cp:lastModifiedBy>
  <cp:revision>1</cp:revision>
  <dcterms:created xsi:type="dcterms:W3CDTF">2026-02-27T16:09:36Z</dcterms:created>
  <dcterms:modified xsi:type="dcterms:W3CDTF">2026-02-27T16:09:36Z</dcterms:modified>
</cp:coreProperties>
</file>